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63040" y="457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i="0">
                <a:solidFill>
                  <a:srgbClr val="0A1322"/>
                </a:solidFill>
                <a:latin typeface="Calibri"/>
              </a:rPr>
              <a:t>Formio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0" i="0">
                <a:solidFill>
                  <a:srgbClr val="0A1322"/>
                </a:solidFill>
                <a:latin typeface="Georgia"/>
              </a:rPr>
              <a:t>Collecte l'info client.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383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0" i="0">
                <a:solidFill>
                  <a:srgbClr val="0A1322"/>
                </a:solidFill>
                <a:latin typeface="Georgia"/>
              </a:rPr>
              <a:t>Genere les documents legaux.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4805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0" i="1">
                <a:solidFill>
                  <a:srgbClr val="0088FF"/>
                </a:solidFill>
                <a:latin typeface="Georgia"/>
              </a:rPr>
              <a:t>Automatiquement.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76895" y="60350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9A8E"/>
                </a:solidFill>
                <a:latin typeface="Calibri"/>
              </a:rPr>
              <a:t>Parsa Homayouni, Fondateur</a:t>
            </a:r>
          </a:p>
          <a:p>
            <a:pPr algn="r"/>
            <a:r>
              <a:rPr sz="900" b="0" i="0">
                <a:solidFill>
                  <a:srgbClr val="9A9A8E"/>
                </a:solidFill>
                <a:latin typeface="Calibri"/>
              </a:rPr>
              <a:t>Equipe 2 -- ENT-4020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6304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0" i="0">
                <a:solidFill>
                  <a:srgbClr val="0A1322"/>
                </a:solidFill>
                <a:latin typeface="Georgia"/>
              </a:rPr>
              <a:t>Les cabinets </a:t>
            </a:r>
            <a:r>
              <a:rPr sz="3800" b="0" i="1">
                <a:solidFill>
                  <a:srgbClr val="0088FF"/>
                </a:solidFill>
                <a:latin typeface="Georgia"/>
              </a:rPr>
              <a:t>perdent</a:t>
            </a:r>
            <a:r>
              <a:rPr sz="3800" b="0" i="0">
                <a:solidFill>
                  <a:srgbClr val="0A1322"/>
                </a:solidFill>
                <a:latin typeface="Georgia"/>
              </a:rPr>
              <a:t> des heures par dossier.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41148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5A5A52"/>
                </a:solidFill>
                <a:latin typeface="Calibri"/>
              </a:rPr>
              <a:t>Leurs clients remplissent mal les formulaires.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8288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0" i="0">
                <a:solidFill>
                  <a:srgbClr val="0088FF"/>
                </a:solidFill>
                <a:latin typeface="Georgia"/>
              </a:rPr>
              <a:t>1.  </a:t>
            </a:r>
            <a:r>
              <a:rPr sz="2200" b="0" i="0">
                <a:solidFill>
                  <a:srgbClr val="0A1322"/>
                </a:solidFill>
                <a:latin typeface="Calibri"/>
              </a:rPr>
              <a:t>Allers-retours avec le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32004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0" i="0">
                <a:solidFill>
                  <a:srgbClr val="0088FF"/>
                </a:solidFill>
                <a:latin typeface="Georgia"/>
              </a:rPr>
              <a:t>2.  </a:t>
            </a:r>
            <a:r>
              <a:rPr sz="2200" b="0" i="0">
                <a:solidFill>
                  <a:srgbClr val="0A1322"/>
                </a:solidFill>
                <a:latin typeface="Calibri"/>
              </a:rPr>
              <a:t>Temps non-facturable perdu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45720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0" i="0">
                <a:solidFill>
                  <a:srgbClr val="0088FF"/>
                </a:solidFill>
                <a:latin typeface="Georgia"/>
              </a:rPr>
              <a:t>3.  </a:t>
            </a:r>
            <a:r>
              <a:rPr sz="2200" b="0" i="0">
                <a:solidFill>
                  <a:srgbClr val="0A1322"/>
                </a:solidFill>
                <a:latin typeface="Calibri"/>
              </a:rPr>
              <a:t>Risque d'erreur legale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A9A8E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63040" y="10972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9A9A8E"/>
                </a:solidFill>
                <a:latin typeface="Calibri"/>
              </a:rPr>
              <a:t>L'INSIGHT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645920"/>
            <a:ext cx="9144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400" b="1" i="0">
                <a:solidFill>
                  <a:srgbClr val="0A1322"/>
                </a:solidFill>
                <a:latin typeface="Georgia"/>
              </a:rPr>
              <a:t>20</a:t>
            </a:r>
            <a:r>
              <a:rPr sz="14400" b="1" i="1">
                <a:solidFill>
                  <a:srgbClr val="0088FF"/>
                </a:solidFill>
                <a:latin typeface="Georgia"/>
              </a:rPr>
              <a:t>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5720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0A1322"/>
                </a:solidFill>
                <a:latin typeface="Georgia"/>
              </a:rPr>
              <a:t>C'est tout ce qu'on demande au client.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53035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A5A52"/>
                </a:solidFill>
                <a:latin typeface="Calibri"/>
              </a:rPr>
              <a:t>Le reste est extrait des documents (OCR) ou reduit a des yes/no triviaux.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A9A8E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0"/>
            <a:ext cx="12191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9A9A8E"/>
                </a:solidFill>
                <a:latin typeface="Calibri"/>
              </a:rPr>
              <a:t>COMMENT CA MARCHE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0" i="1">
                <a:solidFill>
                  <a:srgbClr val="AAAAAA"/>
                </a:solidFill>
                <a:latin typeface="Georgia"/>
              </a:rPr>
              <a:t>Deux etapes, </a:t>
            </a:r>
            <a:r>
              <a:rPr sz="6000" b="0" i="1">
                <a:solidFill>
                  <a:srgbClr val="0088FF"/>
                </a:solidFill>
                <a:latin typeface="Georgia"/>
              </a:rPr>
              <a:t>c'est tout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0" b="0" i="0">
                <a:solidFill>
                  <a:srgbClr val="F0F0E4"/>
                </a:solidFill>
                <a:latin typeface="Georgia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29768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 i="0">
                <a:solidFill>
                  <a:srgbClr val="0A1322"/>
                </a:solidFill>
                <a:latin typeface="Georgia"/>
              </a:rPr>
              <a:t>Le questionnaire 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49377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5A5A52"/>
                </a:solidFill>
                <a:latin typeface="Calibri"/>
              </a:rPr>
              <a:t>Votre client repond a des questions simples depuis son telephone.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9319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9A9A8E"/>
                </a:solidFill>
                <a:latin typeface="Calibri"/>
              </a:rPr>
              <a:t>Formio s'occupe du reste  --&gt;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92608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0" b="0" i="0">
                <a:solidFill>
                  <a:srgbClr val="F0F0E4"/>
                </a:solidFill>
                <a:latin typeface="Georg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429768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 i="0">
                <a:solidFill>
                  <a:srgbClr val="0A1322"/>
                </a:solidFill>
                <a:latin typeface="Georgia"/>
              </a:rPr>
              <a:t>Les documents generes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49377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5A5A52"/>
                </a:solidFill>
                <a:latin typeface="Calibri"/>
              </a:rPr>
              <a:t>FORMIO genere les formulaires IMM, Arrima et IRCC automatiquement.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A9A8E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63040" y="731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9A9A8E"/>
                </a:solidFill>
                <a:latin typeface="Calibri"/>
              </a:rP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1887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 i="0">
                <a:solidFill>
                  <a:srgbClr val="0A1322"/>
                </a:solidFill>
                <a:latin typeface="Georgia"/>
              </a:rPr>
              <a:t>2 mois. 4 cabinets. Revenus </a:t>
            </a:r>
            <a:r>
              <a:rPr sz="4000" b="0" i="1">
                <a:solidFill>
                  <a:srgbClr val="0088FF"/>
                </a:solidFill>
                <a:latin typeface="Georgia"/>
              </a:rPr>
              <a:t>cette semaine.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286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5A5A52"/>
                </a:solidFill>
                <a:latin typeface="Calibri"/>
              </a:rPr>
              <a:t>Zero marketing. Zero outreach. Tout organique.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200400"/>
            <a:ext cx="3657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 i="0">
                <a:solidFill>
                  <a:srgbClr val="0A1322"/>
                </a:solidFill>
                <a:latin typeface="Georgia"/>
              </a:rPr>
              <a:t>~10K$</a:t>
            </a:r>
          </a:p>
          <a:p>
            <a:r>
              <a:rPr sz="1200" b="0" i="0">
                <a:solidFill>
                  <a:srgbClr val="5A5A52"/>
                </a:solidFill>
                <a:latin typeface="Calibri"/>
              </a:rPr>
              <a:t>ARR signe (2 cabinets payants)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846320"/>
            <a:ext cx="3657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 i="0">
                <a:solidFill>
                  <a:srgbClr val="0A1322"/>
                </a:solidFill>
                <a:latin typeface="Georgia"/>
              </a:rPr>
              <a:t>4</a:t>
            </a:r>
          </a:p>
          <a:p>
            <a:r>
              <a:rPr sz="1200" b="0" i="0">
                <a:solidFill>
                  <a:srgbClr val="5A5A52"/>
                </a:solidFill>
                <a:latin typeface="Calibri"/>
              </a:rPr>
              <a:t>cabinets en onboarding imminent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8346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i="0">
                <a:solidFill>
                  <a:srgbClr val="9A9A8E"/>
                </a:solidFill>
                <a:latin typeface="Calibri"/>
              </a:rPr>
              <a:t>PARTENAIRES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291840"/>
            <a:ext cx="5029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0A1322"/>
                </a:solidFill>
                <a:latin typeface="Georgia"/>
              </a:rPr>
              <a:t>AQAADI</a:t>
            </a:r>
          </a:p>
          <a:p>
            <a:r>
              <a:rPr sz="1200" b="0" i="0">
                <a:solidFill>
                  <a:srgbClr val="5A5A52"/>
                </a:solidFill>
                <a:latin typeface="Calibri"/>
              </a:rPr>
              <a:t>via Me Gagner, ambassadrice technologique</a:t>
            </a:r>
          </a:p>
          <a:p>
            <a:r>
              <a:rPr sz="1200" b="0" i="0">
                <a:solidFill>
                  <a:srgbClr val="5A5A52"/>
                </a:solidFill>
                <a:latin typeface="Calibri"/>
              </a:rPr>
              <a:t>(acces aux 500+ membres)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754880"/>
            <a:ext cx="5029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0A1322"/>
                </a:solidFill>
                <a:latin typeface="Georgia"/>
              </a:rPr>
              <a:t>Blouin Avocats</a:t>
            </a:r>
          </a:p>
          <a:p>
            <a:r>
              <a:rPr sz="1200" b="0" i="0">
                <a:solidFill>
                  <a:srgbClr val="5A5A52"/>
                </a:solidFill>
                <a:latin typeface="Calibri"/>
              </a:rPr>
              <a:t>plus gros cabinet d'immigration au Quebec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28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A9A8E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63040" y="914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9A9A8E"/>
                </a:solidFill>
                <a:latin typeface="Calibri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 i="0">
                <a:solidFill>
                  <a:srgbClr val="0A1322"/>
                </a:solidFill>
                <a:latin typeface="Georgia"/>
              </a:rPr>
              <a:t>Tarification a l'usage.</a:t>
            </a:r>
          </a:p>
          <a:p>
            <a:r>
              <a:rPr sz="3600" b="0" i="0">
                <a:solidFill>
                  <a:srgbClr val="0A1322"/>
                </a:solidFill>
                <a:latin typeface="Georgia"/>
              </a:rPr>
              <a:t>Qui </a:t>
            </a:r>
            <a:r>
              <a:rPr sz="3600" b="0" i="1">
                <a:solidFill>
                  <a:srgbClr val="0088FF"/>
                </a:solidFill>
                <a:latin typeface="Georgia"/>
              </a:rPr>
              <a:t>scale</a:t>
            </a:r>
            <a:r>
              <a:rPr sz="3600" b="0" i="0">
                <a:solidFill>
                  <a:srgbClr val="0A1322"/>
                </a:solidFill>
                <a:latin typeface="Georgia"/>
              </a:rPr>
              <a:t> avec le cabinet.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92608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0" b="1" i="0">
                <a:solidFill>
                  <a:srgbClr val="0A1322"/>
                </a:solidFill>
                <a:latin typeface="Georgia"/>
              </a:rPr>
              <a:t>15-20</a:t>
            </a:r>
            <a:r>
              <a:rPr sz="12000" b="1" i="1">
                <a:solidFill>
                  <a:srgbClr val="0088FF"/>
                </a:solidFill>
                <a:latin typeface="Georgia"/>
              </a:rPr>
              <a:t>$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7548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5A5A52"/>
                </a:solidFill>
                <a:latin typeface="Calibri"/>
              </a:rPr>
              <a:t>par demande traitee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5486400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0A1322"/>
                </a:solidFill>
                <a:latin typeface="Georgia"/>
              </a:rPr>
              <a:t>2 250$ - 7 500$</a:t>
            </a:r>
          </a:p>
          <a:p>
            <a:r>
              <a:rPr sz="1200" b="0" i="0">
                <a:solidFill>
                  <a:srgbClr val="5A5A52"/>
                </a:solidFill>
                <a:latin typeface="Calibri"/>
              </a:rPr>
              <a:t>ACV actuel par cabinet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5486400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0A1322"/>
                </a:solidFill>
                <a:latin typeface="Georgia"/>
              </a:rPr>
              <a:t>30 jours</a:t>
            </a:r>
          </a:p>
          <a:p>
            <a:r>
              <a:rPr sz="1200" b="0" i="0">
                <a:solidFill>
                  <a:srgbClr val="5A5A52"/>
                </a:solidFill>
                <a:latin typeface="Calibri"/>
              </a:rPr>
              <a:t>essai gratuit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0" y="5486400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0A1322"/>
                </a:solidFill>
                <a:latin typeface="Georgia"/>
              </a:rPr>
              <a:t>2 mois</a:t>
            </a:r>
          </a:p>
          <a:p>
            <a:r>
              <a:rPr sz="1200" b="0" i="0">
                <a:solidFill>
                  <a:srgbClr val="5A5A52"/>
                </a:solidFill>
                <a:latin typeface="Calibri"/>
              </a:rPr>
              <a:t>offerts sur paiement annuel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A9A8E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63040" y="9144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9A9A8E"/>
                </a:solidFill>
                <a:latin typeface="Calibri"/>
              </a:rPr>
              <a:t>MARCHE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 i="0">
                <a:solidFill>
                  <a:srgbClr val="0A1322"/>
                </a:solidFill>
                <a:latin typeface="Georgia"/>
              </a:rPr>
              <a:t>Le Quebec, seul marche </a:t>
            </a:r>
            <a:r>
              <a:rPr sz="3600" b="0" i="1">
                <a:solidFill>
                  <a:srgbClr val="0088FF"/>
                </a:solidFill>
                <a:latin typeface="Georgia"/>
              </a:rPr>
              <a:t>francophone</a:t>
            </a:r>
            <a:r>
              <a:rPr sz="3600" b="0" i="0">
                <a:solidFill>
                  <a:srgbClr val="0A1322"/>
                </a:solidFill>
                <a:latin typeface="Georgia"/>
              </a:rPr>
              <a:t> de l'immigration canadienne.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017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 i="0">
                <a:solidFill>
                  <a:srgbClr val="0A1322"/>
                </a:solidFill>
                <a:latin typeface="Georgia"/>
              </a:rPr>
              <a:t>500+</a:t>
            </a:r>
          </a:p>
          <a:p>
            <a:r>
              <a:rPr sz="1200" b="0" i="0">
                <a:solidFill>
                  <a:srgbClr val="5A5A52"/>
                </a:solidFill>
                <a:latin typeface="Calibri"/>
              </a:rPr>
              <a:t>membres AQAADI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3474720"/>
            <a:ext cx="3017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 i="0">
                <a:solidFill>
                  <a:srgbClr val="0A1322"/>
                </a:solidFill>
                <a:latin typeface="Georgia"/>
              </a:rPr>
              <a:t>12K+</a:t>
            </a:r>
          </a:p>
          <a:p>
            <a:r>
              <a:rPr sz="1200" b="0" i="0">
                <a:solidFill>
                  <a:srgbClr val="5A5A52"/>
                </a:solidFill>
                <a:latin typeface="Calibri"/>
              </a:rPr>
              <a:t>consultants regules au CICC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3474720"/>
            <a:ext cx="3017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 i="0">
                <a:solidFill>
                  <a:srgbClr val="0A1322"/>
                </a:solidFill>
                <a:latin typeface="Georgia"/>
              </a:rPr>
              <a:t>483K</a:t>
            </a:r>
          </a:p>
          <a:p>
            <a:r>
              <a:rPr sz="1200" b="0" i="0">
                <a:solidFill>
                  <a:srgbClr val="5A5A52"/>
                </a:solidFill>
                <a:latin typeface="Calibri"/>
              </a:rPr>
              <a:t>residents permanents admis en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62179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1">
                <a:solidFill>
                  <a:srgbClr val="9A9A8E"/>
                </a:solidFill>
                <a:latin typeface="Calibri"/>
              </a:rPr>
              <a:t>Sources : CICC 2024, IRCC Annual Report 2025, AQAADI.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A9A8E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0"/>
            <a:ext cx="12191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9A9A8E"/>
                </a:solidFill>
                <a:latin typeface="Calibri"/>
              </a:rPr>
              <a:t>CONCURRENCE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0" i="0">
                <a:solidFill>
                  <a:srgbClr val="0A1322"/>
                </a:solidFill>
                <a:latin typeface="Georgia"/>
              </a:rPr>
              <a:t>Trois concurrents. </a:t>
            </a:r>
            <a:r>
              <a:rPr sz="4800" b="0" i="1">
                <a:solidFill>
                  <a:srgbClr val="0088FF"/>
                </a:solidFill>
                <a:latin typeface="Georgia"/>
              </a:rPr>
              <a:t>Trois angles morts.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560320"/>
            <a:ext cx="12191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9A9A8E"/>
                </a:solidFill>
                <a:latin typeface="Georgia"/>
              </a:rPr>
              <a:t>Visto AI  ·  VisaFlo  ·  CaseEasy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3474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0" b="0" i="0">
                <a:solidFill>
                  <a:srgbClr val="F0F0E4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A1322"/>
                </a:solidFill>
                <a:latin typeface="Georgia"/>
              </a:rPr>
              <a:t>Marche francophone ignore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3657600"/>
            <a:ext cx="3474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0" b="0" i="0">
                <a:solidFill>
                  <a:srgbClr val="F0F0E4"/>
                </a:solidFill>
                <a:latin typeface="Georg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50292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A1322"/>
                </a:solidFill>
                <a:latin typeface="Georgia"/>
              </a:rPr>
              <a:t>Mauvais probleme resolu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3657600"/>
            <a:ext cx="3474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0" b="0" i="0">
                <a:solidFill>
                  <a:srgbClr val="F0F0E4"/>
                </a:solidFill>
                <a:latin typeface="Georgia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50292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A1322"/>
                </a:solidFill>
                <a:latin typeface="Georgia"/>
              </a:rPr>
              <a:t>Absents des reseaux sociaux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A9A8E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63040" y="731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9A9A8E"/>
                </a:solidFill>
                <a:latin typeface="Calibri"/>
              </a:rPr>
              <a:t>EQUIPE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1887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 i="0">
                <a:solidFill>
                  <a:srgbClr val="0A1322"/>
                </a:solidFill>
                <a:latin typeface="Georgia"/>
              </a:rPr>
              <a:t>8 mois a l'interne. 4 mois de validation. </a:t>
            </a:r>
            <a:r>
              <a:rPr sz="3400" b="0" i="1">
                <a:solidFill>
                  <a:srgbClr val="0088FF"/>
                </a:solidFill>
                <a:latin typeface="Georgia"/>
              </a:rPr>
              <a:t>Cofondateur en vue.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5A5A52"/>
                </a:solidFill>
                <a:latin typeface="Calibri"/>
              </a:rPr>
              <a:t>Je connais le workflow d'un cabinet d'immigration mieux que mes utilisateurs.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291840"/>
            <a:ext cx="457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0A1322"/>
                </a:solidFill>
                <a:latin typeface="Georgia"/>
              </a:rPr>
              <a:t>Parsa Homayouni</a:t>
            </a:r>
          </a:p>
          <a:p>
            <a:r>
              <a:rPr sz="1300" b="0" i="0">
                <a:solidFill>
                  <a:srgbClr val="5A5A52"/>
                </a:solidFill>
                <a:latin typeface="Calibri"/>
              </a:rPr>
              <a:t>Fondateur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5720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A1322"/>
                </a:solidFill>
                <a:latin typeface="Georgia"/>
              </a:rPr>
              <a:t>8 mois</a:t>
            </a:r>
          </a:p>
          <a:p>
            <a:r>
              <a:rPr sz="1100" b="0" i="0">
                <a:solidFill>
                  <a:srgbClr val="5A5A52"/>
                </a:solidFill>
                <a:latin typeface="Calibri"/>
              </a:rPr>
              <a:t>in-house dans un cabinet d'immigration a observer le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45720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A1322"/>
                </a:solidFill>
                <a:latin typeface="Georgia"/>
              </a:rPr>
              <a:t>4 mois</a:t>
            </a:r>
          </a:p>
          <a:p>
            <a:r>
              <a:rPr sz="1100" b="0" i="0">
                <a:solidFill>
                  <a:srgbClr val="5A5A52"/>
                </a:solidFill>
                <a:latin typeface="Calibri"/>
              </a:rPr>
              <a:t>de validation avec de vrais cabinets avant ma premiere ligne de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0" y="45720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A1322"/>
                </a:solidFill>
                <a:latin typeface="Georgia"/>
              </a:rPr>
              <a:t>Cofondateur</a:t>
            </a:r>
          </a:p>
          <a:p>
            <a:r>
              <a:rPr sz="1100" b="0" i="0">
                <a:solidFill>
                  <a:srgbClr val="5A5A52"/>
                </a:solidFill>
                <a:latin typeface="Calibri"/>
              </a:rPr>
              <a:t>en discussion avec un meilleur ami, complementarite technique et business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A9A8E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63040" y="731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9A9A8E"/>
                </a:solidFill>
                <a:latin typeface="Calibri"/>
              </a:rPr>
              <a:t>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1887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 i="0">
                <a:solidFill>
                  <a:srgbClr val="0A1322"/>
                </a:solidFill>
                <a:latin typeface="Georgia"/>
              </a:rPr>
              <a:t>De 60 cabinets a l'infrastructure </a:t>
            </a:r>
            <a:r>
              <a:rPr sz="3600" b="0" i="1">
                <a:solidFill>
                  <a:srgbClr val="0088FF"/>
                </a:solidFill>
                <a:latin typeface="Georgia"/>
              </a:rPr>
              <a:t>nationale.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286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5A5A52"/>
                </a:solidFill>
                <a:latin typeface="Calibri"/>
              </a:rPr>
              <a:t>Quatre etapes. Quatre ans.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200400"/>
            <a:ext cx="4114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0A1322"/>
                </a:solidFill>
                <a:latin typeface="Georgia"/>
              </a:rPr>
              <a:t>2026</a:t>
            </a:r>
          </a:p>
          <a:p>
            <a:r>
              <a:rPr sz="1300" b="0" i="0">
                <a:solidFill>
                  <a:srgbClr val="5A5A52"/>
                </a:solidFill>
                <a:latin typeface="Calibri"/>
              </a:rPr>
              <a:t>60 cabinets -- Quebec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114800"/>
            <a:ext cx="4114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0A1322"/>
                </a:solidFill>
                <a:latin typeface="Georgia"/>
              </a:rPr>
              <a:t>2027</a:t>
            </a:r>
          </a:p>
          <a:p>
            <a:r>
              <a:rPr sz="1300" b="0" i="0">
                <a:solidFill>
                  <a:srgbClr val="5A5A52"/>
                </a:solidFill>
                <a:latin typeface="Calibri"/>
              </a:rPr>
              <a:t>300-500 cabinets -- Canada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5029200"/>
            <a:ext cx="4114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0A1322"/>
                </a:solidFill>
                <a:latin typeface="Georgia"/>
              </a:rPr>
              <a:t>2028</a:t>
            </a:r>
          </a:p>
          <a:p>
            <a:r>
              <a:rPr sz="1300" b="0" i="0">
                <a:solidFill>
                  <a:srgbClr val="5A5A52"/>
                </a:solidFill>
                <a:latin typeface="Calibri"/>
              </a:rPr>
              <a:t>Couverture nationale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01752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 i="1">
                <a:solidFill>
                  <a:srgbClr val="0088FF"/>
                </a:solidFill>
                <a:latin typeface="Georgia"/>
              </a:rPr>
              <a:t>2029+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38912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0A1322"/>
                </a:solidFill>
                <a:latin typeface="Georgia"/>
              </a:rPr>
              <a:t>Contrat IRCC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9377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A1322"/>
                </a:solidFill>
                <a:latin typeface="Calibri"/>
              </a:rPr>
              <a:t>Formio</a:t>
            </a:r>
            <a:r>
              <a:rPr sz="1200" b="0" i="0">
                <a:solidFill>
                  <a:srgbClr val="5A5A52"/>
                </a:solidFill>
                <a:latin typeface="Calibri"/>
              </a:rPr>
              <a:t> devient le handler officiel des demandes d'immigration aupres du gouvernement federal.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A9A8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63040" y="13716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 i="0">
                <a:solidFill>
                  <a:srgbClr val="0A1322"/>
                </a:solidFill>
                <a:latin typeface="Calibri"/>
              </a:rPr>
              <a:t>Formio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i="0">
                <a:solidFill>
                  <a:srgbClr val="0A1322"/>
                </a:solidFill>
                <a:latin typeface="Georgia"/>
              </a:rPr>
              <a:t>Le futur de l'immigration</a:t>
            </a:r>
          </a:p>
          <a:p>
            <a:r>
              <a:rPr sz="3200" b="0" i="0">
                <a:solidFill>
                  <a:srgbClr val="0A1322"/>
                </a:solidFill>
                <a:latin typeface="Georgia"/>
              </a:rPr>
              <a:t>au Canada </a:t>
            </a:r>
            <a:r>
              <a:rPr sz="3200" b="0" i="1">
                <a:solidFill>
                  <a:srgbClr val="0088FF"/>
                </a:solidFill>
                <a:latin typeface="Georgia"/>
              </a:rPr>
              <a:t>commence au Quebec.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114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9A9A8E"/>
                </a:solidFill>
                <a:latin typeface="Calibri"/>
              </a:rPr>
              <a:t>CE QUE JE CHERCHE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6634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A1322"/>
                </a:solidFill>
                <a:latin typeface="Georgia"/>
              </a:rPr>
              <a:t>Intros</a:t>
            </a:r>
          </a:p>
          <a:p>
            <a:r>
              <a:rPr sz="1100" b="0" i="0">
                <a:solidFill>
                  <a:srgbClr val="5A5A52"/>
                </a:solidFill>
                <a:latin typeface="Calibri"/>
              </a:rPr>
              <a:t>cabinets et consultants partout au Canada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46634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A1322"/>
                </a:solidFill>
                <a:latin typeface="Georgia"/>
              </a:rPr>
              <a:t>Conseils</a:t>
            </a:r>
          </a:p>
          <a:p>
            <a:r>
              <a:rPr sz="1100" b="0" i="0">
                <a:solidFill>
                  <a:srgbClr val="5A5A52"/>
                </a:solidFill>
                <a:latin typeface="Calibri"/>
              </a:rPr>
              <a:t>expansion interprovinciale et relations IRCC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0" y="46634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A1322"/>
                </a:solidFill>
                <a:latin typeface="Georgia"/>
              </a:rPr>
              <a:t>Partenaires strategiques</a:t>
            </a:r>
          </a:p>
          <a:p>
            <a:r>
              <a:rPr sz="1100" b="0" i="0">
                <a:solidFill>
                  <a:srgbClr val="5A5A52"/>
                </a:solidFill>
                <a:latin typeface="Calibri"/>
              </a:rPr>
              <a:t>gouvernement federal, associations professionnelles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6217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A1322"/>
                </a:solidFill>
                <a:latin typeface="Calibri"/>
              </a:rPr>
              <a:t>parsa@formio.ca  ·  formio.ca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A9A8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